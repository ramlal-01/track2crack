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Canva Sans Bold Italics" panose="020B0604020202020204" charset="0"/>
      <p:regular r:id="rId14"/>
    </p:embeddedFont>
    <p:embeddedFont>
      <p:font typeface="Canva Sans Italics" panose="020B0604020202020204" charset="0"/>
      <p:regular r:id="rId15"/>
    </p:embeddedFont>
    <p:embeddedFont>
      <p:font typeface="Century Gothic Paneuropean" panose="020B0604020202020204" charset="0"/>
      <p:regular r:id="rId16"/>
    </p:embeddedFont>
    <p:embeddedFont>
      <p:font typeface="Century Gothic Paneuropean Bold" panose="020B0604020202020204" charset="0"/>
      <p:regular r:id="rId17"/>
    </p:embeddedFont>
    <p:embeddedFont>
      <p:font typeface="Century Gothic Paneuropean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36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98635" y="5397891"/>
            <a:ext cx="9494154" cy="307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HackSmith (Team 19)</a:t>
            </a:r>
          </a:p>
          <a:p>
            <a:pPr algn="ctr"/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Ram Lal</a:t>
            </a:r>
          </a:p>
          <a:p>
            <a:pPr algn="ctr"/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Bhumika Agrawal</a:t>
            </a:r>
          </a:p>
          <a:p>
            <a:pPr algn="ctr"/>
            <a:r>
              <a:rPr lang="en-US" sz="3200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Remanshu</a:t>
            </a:r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Goyal</a:t>
            </a:r>
          </a:p>
          <a:p>
            <a:pPr algn="ctr"/>
            <a:r>
              <a:rPr lang="en-US" sz="32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Riya Khandelwal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257800" y="1552460"/>
            <a:ext cx="8159345" cy="170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59"/>
              </a:lnSpc>
            </a:pPr>
            <a:r>
              <a:rPr lang="en-US" sz="9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Track2Crack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82962" y="3885568"/>
            <a:ext cx="135255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i="1" dirty="0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“Your smart way to retain and revise coding topics”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14705" y="606862"/>
            <a:ext cx="14858589" cy="220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2"/>
              </a:lnSpc>
            </a:pPr>
            <a:r>
              <a:rPr lang="en-US" sz="6337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WHY STUDENTS STRUGGLE WITH CODING RETENTION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124" y="3720328"/>
            <a:ext cx="17785228" cy="457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3"/>
              </a:lnSpc>
            </a:pPr>
            <a:r>
              <a:rPr lang="en-US" sz="394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Coding students forget what they’ve learned over time</a:t>
            </a:r>
          </a:p>
          <a:p>
            <a:pPr algn="just">
              <a:lnSpc>
                <a:spcPts val="7373"/>
              </a:lnSpc>
            </a:pPr>
            <a:r>
              <a:rPr lang="en-US" sz="394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Lack of structured revision.</a:t>
            </a:r>
          </a:p>
          <a:p>
            <a:pPr algn="l">
              <a:lnSpc>
                <a:spcPts val="7373"/>
              </a:lnSpc>
            </a:pPr>
            <a:r>
              <a:rPr lang="en-US" sz="394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No cross-platform topic tracking (LeetCode, GFG, CF, etc.)</a:t>
            </a:r>
          </a:p>
          <a:p>
            <a:pPr algn="l">
              <a:lnSpc>
                <a:spcPts val="7373"/>
              </a:lnSpc>
            </a:pPr>
            <a:r>
              <a:rPr lang="en-US" sz="394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Result: Weak retention, poor performance in interviews.</a:t>
            </a:r>
          </a:p>
          <a:p>
            <a:pPr algn="l">
              <a:lnSpc>
                <a:spcPts val="7373"/>
              </a:lnSpc>
            </a:pPr>
            <a:endParaRPr lang="en-US" sz="3943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5901" y="254962"/>
            <a:ext cx="12791729" cy="2716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09"/>
              </a:lnSpc>
            </a:pPr>
            <a:r>
              <a:rPr lang="en-US" sz="77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HOW TRACK2CRACK SOLVES 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14852"/>
            <a:ext cx="16230600" cy="446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0"/>
              </a:lnSpc>
            </a:pPr>
            <a:r>
              <a:rPr lang="en-US" sz="40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Track2Crack — an AI-powered web platform</a:t>
            </a:r>
          </a:p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Syncs progress across platforms</a:t>
            </a:r>
          </a:p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Automatically quizzes past topics</a:t>
            </a:r>
          </a:p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Identifies weak areas and recommends revision</a:t>
            </a:r>
          </a:p>
          <a:p>
            <a:pPr algn="l">
              <a:lnSpc>
                <a:spcPts val="5970"/>
              </a:lnSpc>
            </a:pPr>
            <a:r>
              <a:rPr lang="en-US" sz="426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Encourages spaced repetition-based retention</a:t>
            </a:r>
          </a:p>
          <a:p>
            <a:pPr algn="l">
              <a:lnSpc>
                <a:spcPts val="6110"/>
              </a:lnSpc>
            </a:pPr>
            <a:endParaRPr lang="en-US" sz="4264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8158"/>
            <a:ext cx="4515283" cy="3936879"/>
          </a:xfrm>
          <a:custGeom>
            <a:avLst/>
            <a:gdLst/>
            <a:ahLst/>
            <a:cxnLst/>
            <a:rect l="l" t="t" r="r" b="b"/>
            <a:pathLst>
              <a:path w="4515283" h="3936879">
                <a:moveTo>
                  <a:pt x="0" y="0"/>
                </a:moveTo>
                <a:lnTo>
                  <a:pt x="4515283" y="0"/>
                </a:lnTo>
                <a:lnTo>
                  <a:pt x="4515283" y="3936879"/>
                </a:lnTo>
                <a:lnTo>
                  <a:pt x="0" y="3936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8500" y="3018498"/>
            <a:ext cx="15460443" cy="600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602" lvl="1" indent="-334301" algn="l">
              <a:lnSpc>
                <a:spcPts val="4335"/>
              </a:lnSpc>
              <a:buFont typeface="Arial"/>
              <a:buChar char="•"/>
            </a:pPr>
            <a:r>
              <a:rPr lang="en-US" sz="309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Secure account linking </a:t>
            </a: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Connect coding profiles (LeetCode, GFG, CF) via API integration.</a:t>
            </a:r>
          </a:p>
          <a:p>
            <a:pPr marL="668602" lvl="1" indent="-334301" algn="l">
              <a:lnSpc>
                <a:spcPts val="4335"/>
              </a:lnSpc>
              <a:buFont typeface="Arial"/>
              <a:buChar char="•"/>
            </a:pPr>
            <a:r>
              <a:rPr lang="en-US" sz="309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 aggregation &amp; topic classification</a:t>
            </a: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Auto-fetch and organize solved problems by topic and difficulty.</a:t>
            </a:r>
          </a:p>
          <a:p>
            <a:pPr marL="668602" lvl="1" indent="-334301" algn="l">
              <a:lnSpc>
                <a:spcPts val="4335"/>
              </a:lnSpc>
              <a:buFont typeface="Arial"/>
              <a:buChar char="•"/>
            </a:pPr>
            <a:r>
              <a:rPr lang="en-US" sz="309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AI-based retention engine</a:t>
            </a: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Detects weak topics and schedules revision using spaced repetition.</a:t>
            </a:r>
          </a:p>
          <a:p>
            <a:pPr marL="668602" lvl="1" indent="-334301" algn="l">
              <a:lnSpc>
                <a:spcPts val="4335"/>
              </a:lnSpc>
              <a:buFont typeface="Arial"/>
              <a:buChar char="•"/>
            </a:pPr>
            <a:r>
              <a:rPr lang="en-US" sz="309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Auto-generated quizzes </a:t>
            </a: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Personalized micro-quizzes for reinforcement and memory strengthening.</a:t>
            </a:r>
          </a:p>
          <a:p>
            <a:pPr marL="668602" lvl="1" indent="-334301" algn="l">
              <a:lnSpc>
                <a:spcPts val="4335"/>
              </a:lnSpc>
              <a:buFont typeface="Arial"/>
              <a:buChar char="•"/>
            </a:pPr>
            <a:r>
              <a:rPr lang="en-US" sz="309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Real-time progress dashboard </a:t>
            </a:r>
            <a:r>
              <a:rPr lang="en-US" sz="309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Visual insights on strengths, gaps, revision streaks, and consistency.</a:t>
            </a:r>
          </a:p>
          <a:p>
            <a:pPr algn="l">
              <a:lnSpc>
                <a:spcPts val="4335"/>
              </a:lnSpc>
            </a:pPr>
            <a:endParaRPr lang="en-US" sz="3096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75411" y="876300"/>
            <a:ext cx="8537178" cy="135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49"/>
              </a:lnSpc>
            </a:pPr>
            <a:r>
              <a:rPr lang="en-US" sz="78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HOW ITS WORK?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77275" y="571911"/>
            <a:ext cx="11656007" cy="284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MARKET OPPORTUNITY</a:t>
            </a:r>
          </a:p>
          <a:p>
            <a:pPr algn="ctr">
              <a:lnSpc>
                <a:spcPts val="11469"/>
              </a:lnSpc>
            </a:pPr>
            <a:endParaRPr lang="en-US" sz="8192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0715" y="2980398"/>
            <a:ext cx="17207285" cy="512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4"/>
              </a:lnSpc>
            </a:pPr>
            <a:r>
              <a:rPr lang="en-US" sz="487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5M+ Indian college students in CS/IT</a:t>
            </a:r>
          </a:p>
          <a:p>
            <a:pPr algn="l">
              <a:lnSpc>
                <a:spcPts val="6824"/>
              </a:lnSpc>
            </a:pPr>
            <a:r>
              <a:rPr lang="en-US" sz="487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Thousands actively using platforms like LeetCode,    GFG,Angaar batch</a:t>
            </a:r>
          </a:p>
          <a:p>
            <a:pPr algn="l">
              <a:lnSpc>
                <a:spcPts val="6824"/>
              </a:lnSpc>
            </a:pPr>
            <a:r>
              <a:rPr lang="en-US" sz="487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Current tools focus on practice, not retention</a:t>
            </a:r>
          </a:p>
          <a:p>
            <a:pPr algn="l">
              <a:lnSpc>
                <a:spcPts val="6824"/>
              </a:lnSpc>
            </a:pPr>
            <a:r>
              <a:rPr lang="en-US" sz="487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🔹 B2B integration (colleges, edtechs)</a:t>
            </a:r>
          </a:p>
          <a:p>
            <a:pPr algn="l">
              <a:lnSpc>
                <a:spcPts val="6824"/>
              </a:lnSpc>
            </a:pPr>
            <a:endParaRPr lang="en-US" sz="4874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640739" y="3417750"/>
            <a:ext cx="4137268" cy="3607287"/>
          </a:xfrm>
          <a:custGeom>
            <a:avLst/>
            <a:gdLst/>
            <a:ahLst/>
            <a:cxnLst/>
            <a:rect l="l" t="t" r="r" b="b"/>
            <a:pathLst>
              <a:path w="4137268" h="3607287">
                <a:moveTo>
                  <a:pt x="4137268" y="0"/>
                </a:moveTo>
                <a:lnTo>
                  <a:pt x="0" y="0"/>
                </a:lnTo>
                <a:lnTo>
                  <a:pt x="0" y="3607287"/>
                </a:lnTo>
                <a:lnTo>
                  <a:pt x="4137268" y="3607287"/>
                </a:lnTo>
                <a:lnTo>
                  <a:pt x="41372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0475" y="336272"/>
            <a:ext cx="8537178" cy="284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REVENUE MODEL</a:t>
            </a:r>
          </a:p>
          <a:p>
            <a:pPr algn="ctr">
              <a:lnSpc>
                <a:spcPts val="11469"/>
              </a:lnSpc>
            </a:pPr>
            <a:endParaRPr lang="en-US" sz="8192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8343" y="2321973"/>
            <a:ext cx="8917799" cy="245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6"/>
              </a:lnSpc>
            </a:pPr>
            <a:r>
              <a:rPr lang="en-US" sz="356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Freemium Model (Base Features Free)</a:t>
            </a:r>
          </a:p>
          <a:p>
            <a:pPr algn="ctr">
              <a:lnSpc>
                <a:spcPts val="4996"/>
              </a:lnSpc>
            </a:pPr>
            <a:endParaRPr lang="en-US" sz="3569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ctr">
              <a:lnSpc>
                <a:spcPts val="4996"/>
              </a:lnSpc>
            </a:pPr>
            <a:endParaRPr lang="en-US" sz="3569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ctr">
              <a:lnSpc>
                <a:spcPts val="4678"/>
              </a:lnSpc>
            </a:pPr>
            <a:endParaRPr lang="en-US" sz="3569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0736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H="1">
            <a:off x="9163050" y="2388648"/>
            <a:ext cx="59922" cy="63402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373256" y="3367367"/>
            <a:ext cx="9525" cy="88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9362906" y="2312448"/>
            <a:ext cx="7896394" cy="63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5"/>
              </a:lnSpc>
            </a:pPr>
            <a:r>
              <a:rPr lang="en-US" sz="373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Premium Tier (Paid Subscription)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422" y="3442815"/>
            <a:ext cx="7019793" cy="51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Sync accounts</a:t>
            </a:r>
          </a:p>
          <a:p>
            <a:pPr algn="just">
              <a:lnSpc>
                <a:spcPts val="4565"/>
              </a:lnSpc>
            </a:pPr>
            <a:endParaRPr lang="en-US" sz="316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04084" lvl="1" indent="-352042" algn="just">
              <a:lnSpc>
                <a:spcPts val="4565"/>
              </a:lnSpc>
              <a:buFont typeface="Arial"/>
              <a:buChar char="•"/>
            </a:pPr>
            <a:r>
              <a:rPr lang="en-US" sz="32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Basic analytics</a:t>
            </a:r>
          </a:p>
          <a:p>
            <a:pPr algn="just">
              <a:lnSpc>
                <a:spcPts val="4565"/>
              </a:lnSpc>
            </a:pPr>
            <a:endParaRPr lang="en-US" sz="326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04084" lvl="1" indent="-352042" algn="just">
              <a:lnSpc>
                <a:spcPts val="4565"/>
              </a:lnSpc>
              <a:buFont typeface="Arial"/>
              <a:buChar char="•"/>
            </a:pPr>
            <a:r>
              <a:rPr lang="en-US" sz="32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Daily limited quizzes</a:t>
            </a:r>
          </a:p>
          <a:p>
            <a:pPr algn="just">
              <a:lnSpc>
                <a:spcPts val="4565"/>
              </a:lnSpc>
            </a:pPr>
            <a:endParaRPr lang="en-US" sz="326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Weekly weak topic summary</a:t>
            </a:r>
          </a:p>
          <a:p>
            <a:pPr algn="just">
              <a:lnSpc>
                <a:spcPts val="4565"/>
              </a:lnSpc>
            </a:pPr>
            <a:endParaRPr lang="en-US" sz="316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565"/>
              </a:lnSpc>
            </a:pPr>
            <a:endParaRPr lang="en-US" sz="316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757848" y="3395942"/>
            <a:ext cx="6379609" cy="505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Full AI-powered analytics</a:t>
            </a:r>
          </a:p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Unlimited personalized quizzes</a:t>
            </a:r>
          </a:p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Spaced repetition scheduler</a:t>
            </a:r>
          </a:p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Company-specific coding questions (Amazon, Google, etc.)</a:t>
            </a:r>
          </a:p>
          <a:p>
            <a:pPr marL="682494" lvl="1" indent="-341247" algn="just">
              <a:lnSpc>
                <a:spcPts val="4425"/>
              </a:lnSpc>
              <a:buFont typeface="Arial"/>
              <a:buChar char="•"/>
            </a:pPr>
            <a:r>
              <a:rPr lang="en-US" sz="31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Interview question sets</a:t>
            </a:r>
          </a:p>
          <a:p>
            <a:pPr algn="just">
              <a:lnSpc>
                <a:spcPts val="4565"/>
              </a:lnSpc>
            </a:pPr>
            <a:endParaRPr lang="en-US" sz="3161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2069" y="833130"/>
            <a:ext cx="13060035" cy="214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B2B Partnerships (Colleges, Coding Institutes)</a:t>
            </a: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</a:t>
            </a:r>
            <a:r>
              <a:rPr lang="en-US" sz="3899" i="1">
                <a:solidFill>
                  <a:srgbClr val="000000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 Sell campus-wide subscriptions to colleges.</a:t>
            </a:r>
          </a:p>
          <a:p>
            <a:pPr algn="ctr">
              <a:lnSpc>
                <a:spcPts val="5879"/>
              </a:lnSpc>
            </a:pPr>
            <a:endParaRPr lang="en-US" sz="3899" i="1">
              <a:solidFill>
                <a:srgbClr val="000000"/>
              </a:solidFill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02993" y="2879112"/>
            <a:ext cx="8682014" cy="423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1"/>
              </a:lnSpc>
            </a:pPr>
            <a:r>
              <a:rPr lang="en-US" sz="493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Partner with:</a:t>
            </a:r>
          </a:p>
          <a:p>
            <a:pPr algn="ctr">
              <a:lnSpc>
                <a:spcPts val="3411"/>
              </a:lnSpc>
            </a:pPr>
            <a:endParaRPr lang="en-US" sz="493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20459" lvl="1" indent="-360230" algn="l">
              <a:lnSpc>
                <a:spcPts val="4671"/>
              </a:lnSpc>
              <a:buFont typeface="Arial"/>
              <a:buChar char="•"/>
            </a:pPr>
            <a:r>
              <a:rPr lang="en-US" sz="33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Coaching centers</a:t>
            </a:r>
          </a:p>
          <a:p>
            <a:pPr algn="l">
              <a:lnSpc>
                <a:spcPts val="2851"/>
              </a:lnSpc>
            </a:pPr>
            <a:endParaRPr lang="en-US" sz="333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20459" lvl="1" indent="-360230" algn="l">
              <a:lnSpc>
                <a:spcPts val="4671"/>
              </a:lnSpc>
              <a:buFont typeface="Arial"/>
              <a:buChar char="•"/>
            </a:pPr>
            <a:r>
              <a:rPr lang="en-US" sz="33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Coding institutes</a:t>
            </a:r>
          </a:p>
          <a:p>
            <a:pPr algn="l">
              <a:lnSpc>
                <a:spcPts val="2851"/>
              </a:lnSpc>
            </a:pPr>
            <a:endParaRPr lang="en-US" sz="333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20459" lvl="1" indent="-360230" algn="l">
              <a:lnSpc>
                <a:spcPts val="4671"/>
              </a:lnSpc>
              <a:buFont typeface="Arial"/>
              <a:buChar char="•"/>
            </a:pPr>
            <a:r>
              <a:rPr lang="en-US" sz="33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Skill development companies</a:t>
            </a:r>
          </a:p>
          <a:p>
            <a:pPr algn="ctr">
              <a:lnSpc>
                <a:spcPts val="3411"/>
              </a:lnSpc>
            </a:pPr>
            <a:endParaRPr lang="en-US" sz="333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34683" y="2327940"/>
            <a:ext cx="15524617" cy="5917085"/>
          </a:xfrm>
          <a:custGeom>
            <a:avLst/>
            <a:gdLst/>
            <a:ahLst/>
            <a:cxnLst/>
            <a:rect l="l" t="t" r="r" b="b"/>
            <a:pathLst>
              <a:path w="15524617" h="5917085">
                <a:moveTo>
                  <a:pt x="0" y="0"/>
                </a:moveTo>
                <a:lnTo>
                  <a:pt x="15524617" y="0"/>
                </a:lnTo>
                <a:lnTo>
                  <a:pt x="15524617" y="5917085"/>
                </a:lnTo>
                <a:lnTo>
                  <a:pt x="0" y="5917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396126" y="400477"/>
            <a:ext cx="11495747" cy="156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Sets Us Apart!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410362"/>
            <a:ext cx="15955146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i="1">
                <a:solidFill>
                  <a:srgbClr val="4B0082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</a:t>
            </a:r>
            <a:r>
              <a:rPr lang="en-US" sz="3200">
                <a:solidFill>
                  <a:srgbClr val="4B0082"/>
                </a:solidFill>
                <a:latin typeface="Canva Sans"/>
                <a:ea typeface="Canva Sans"/>
                <a:cs typeface="Canva Sans"/>
                <a:sym typeface="Canva Sans"/>
              </a:rPr>
              <a:t>We’re not building another coding tracker — we’re building the </a:t>
            </a:r>
            <a:r>
              <a:rPr lang="en-US" sz="3200" b="1" i="1">
                <a:solidFill>
                  <a:srgbClr val="4B0082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memory muscle</a:t>
            </a:r>
            <a:r>
              <a:rPr lang="en-US" sz="3200">
                <a:solidFill>
                  <a:srgbClr val="4B0082"/>
                </a:solidFill>
                <a:latin typeface="Canva Sans"/>
                <a:ea typeface="Canva Sans"/>
                <a:cs typeface="Canva Sans"/>
                <a:sym typeface="Canva Sans"/>
              </a:rPr>
              <a:t> coding students need to succeed.”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2123005" y="3289175"/>
            <a:ext cx="148608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9496991" y="2703220"/>
            <a:ext cx="0" cy="50872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800231" y="0"/>
            <a:ext cx="14519810" cy="9673823"/>
          </a:xfrm>
          <a:custGeom>
            <a:avLst/>
            <a:gdLst/>
            <a:ahLst/>
            <a:cxnLst/>
            <a:rect l="l" t="t" r="r" b="b"/>
            <a:pathLst>
              <a:path w="14519810" h="9673823">
                <a:moveTo>
                  <a:pt x="0" y="0"/>
                </a:moveTo>
                <a:lnTo>
                  <a:pt x="14519809" y="0"/>
                </a:lnTo>
                <a:lnTo>
                  <a:pt x="14519809" y="9673823"/>
                </a:lnTo>
                <a:lnTo>
                  <a:pt x="0" y="96738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sz="11886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329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Canva Sans Italics</vt:lpstr>
      <vt:lpstr>Century Gothic Paneuropean Bold</vt:lpstr>
      <vt:lpstr>Arial</vt:lpstr>
      <vt:lpstr>Canva Sans Bold</vt:lpstr>
      <vt:lpstr>Canva Sans Bold Italics</vt:lpstr>
      <vt:lpstr>Century Gothic Paneuropean</vt:lpstr>
      <vt:lpstr>Calibri</vt:lpstr>
      <vt:lpstr>Century Gothic Paneuropean Italics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Yellow Modern Minimalist Elegant Presentation</dc:title>
  <cp:lastModifiedBy>Ram Lal</cp:lastModifiedBy>
  <cp:revision>3</cp:revision>
  <dcterms:created xsi:type="dcterms:W3CDTF">2006-08-16T00:00:00Z</dcterms:created>
  <dcterms:modified xsi:type="dcterms:W3CDTF">2025-06-17T11:55:00Z</dcterms:modified>
  <dc:identifier>DAGqTTD_Eqw</dc:identifier>
</cp:coreProperties>
</file>